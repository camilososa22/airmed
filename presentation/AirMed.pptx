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4480560" cy="4480560"/>
          </a:xfrm>
          <a:prstGeom prst="ellipse">
            <a:avLst/>
          </a:prstGeom>
          <a:solidFill>
            <a:srgbClr val="243B53"/>
          </a:solidFill>
          <a:ln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137160"/>
            <a:ext cx="2377440" cy="237744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32720" y="777240"/>
            <a:ext cx="1097280" cy="109728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53035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7FE7E2"/>
                </a:solidFill>
                <a:latin typeface="Aptos"/>
              </a:defRPr>
            </a:pPr>
            <a:r>
              <a:rPr lang="es-CO" dirty="0"/>
              <a:t>TALLER ABP – Deep </a:t>
            </a:r>
            <a:r>
              <a:rPr lang="es-CO" dirty="0" err="1"/>
              <a:t>Learning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49808" y="1432033"/>
            <a:ext cx="585216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4600" b="1" i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AirMed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49808" y="2437873"/>
            <a:ext cx="667512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Predicción</a:t>
            </a:r>
            <a:r>
              <a:rPr dirty="0"/>
              <a:t> de la </a:t>
            </a:r>
            <a:r>
              <a:rPr dirty="0" err="1"/>
              <a:t>calidad</a:t>
            </a:r>
            <a:r>
              <a:rPr dirty="0"/>
              <a:t> del </a:t>
            </a:r>
            <a:r>
              <a:rPr dirty="0" err="1"/>
              <a:t>aire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Medellín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301981"/>
            <a:ext cx="621792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0" i="0">
                <a:solidFill>
                  <a:srgbClr val="D9E2EC"/>
                </a:solidFill>
                <a:latin typeface="Aptos"/>
              </a:defRPr>
            </a:pP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recurrentes</a:t>
            </a:r>
            <a:r>
              <a:rPr dirty="0"/>
              <a:t> LSTM y GRU para </a:t>
            </a:r>
            <a:r>
              <a:rPr dirty="0" err="1"/>
              <a:t>estimar</a:t>
            </a:r>
            <a:r>
              <a:rPr dirty="0"/>
              <a:t> la </a:t>
            </a:r>
            <a:r>
              <a:rPr dirty="0" err="1"/>
              <a:t>concentración</a:t>
            </a:r>
            <a:r>
              <a:rPr dirty="0"/>
              <a:t> </a:t>
            </a:r>
            <a:r>
              <a:rPr dirty="0" err="1"/>
              <a:t>horaria</a:t>
            </a:r>
            <a:r>
              <a:rPr dirty="0"/>
              <a:t> de PM2.5 a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históricos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75325" y="5550228"/>
            <a:ext cx="3337381" cy="667512"/>
          </a:xfrm>
          <a:prstGeom prst="roundRect">
            <a:avLst/>
          </a:prstGeom>
          <a:solidFill>
            <a:srgbClr val="243B53"/>
          </a:solidFill>
          <a:ln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7349" y="5783580"/>
            <a:ext cx="6217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SIATA  •  MED-PBLQ  •  ENERO–AGOSTO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468" y="6373368"/>
            <a:ext cx="6766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0" i="0">
                <a:solidFill>
                  <a:srgbClr val="A9C4D7"/>
                </a:solidFill>
                <a:latin typeface="Aptos"/>
              </a:defRPr>
            </a:pPr>
            <a:r>
              <a:t>Repositorio público: github.com/Camilososa22/AirMed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2A3C9746-C6CD-4185-A300-5ED9C5D33D2F}"/>
              </a:ext>
            </a:extLst>
          </p:cNvPr>
          <p:cNvSpPr txBox="1"/>
          <p:nvPr/>
        </p:nvSpPr>
        <p:spPr>
          <a:xfrm>
            <a:off x="777240" y="5093366"/>
            <a:ext cx="6217920" cy="10218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0" i="0">
                <a:solidFill>
                  <a:srgbClr val="D9E2EC"/>
                </a:solidFill>
                <a:latin typeface="Aptos"/>
              </a:defRPr>
            </a:pPr>
            <a:r>
              <a:rPr lang="es-CO" b="1" dirty="0"/>
              <a:t>Presentado por:</a:t>
            </a:r>
          </a:p>
          <a:p>
            <a:pPr>
              <a:defRPr sz="1600" b="0" i="0">
                <a:solidFill>
                  <a:srgbClr val="D9E2EC"/>
                </a:solidFill>
                <a:latin typeface="Aptos"/>
              </a:defRPr>
            </a:pPr>
            <a:r>
              <a:rPr lang="es-CO" dirty="0" err="1"/>
              <a:t>Yenifer</a:t>
            </a:r>
            <a:r>
              <a:rPr lang="es-CO" dirty="0"/>
              <a:t> Salazar Restrepo</a:t>
            </a:r>
          </a:p>
          <a:p>
            <a:pPr>
              <a:defRPr sz="1600" b="0" i="0">
                <a:solidFill>
                  <a:srgbClr val="D9E2EC"/>
                </a:solidFill>
                <a:latin typeface="Aptos"/>
              </a:defRPr>
            </a:pPr>
            <a:r>
              <a:rPr lang="es-CO" dirty="0"/>
              <a:t>Juan Esteban Cardona Jaramillo</a:t>
            </a:r>
          </a:p>
          <a:p>
            <a:pPr>
              <a:defRPr sz="1600" b="0" i="0">
                <a:solidFill>
                  <a:srgbClr val="D9E2EC"/>
                </a:solidFill>
                <a:latin typeface="Aptos"/>
              </a:defRPr>
            </a:pPr>
            <a:r>
              <a:rPr lang="es-CO" dirty="0"/>
              <a:t>Camilo Andrés Estrada Sosa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087E8B"/>
                </a:solidFill>
                <a:latin typeface="Aptos"/>
              </a:defRPr>
            </a:pPr>
            <a:r>
              <a:t>01 ·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600" b="1" i="0">
                <a:solidFill>
                  <a:srgbClr val="102A43"/>
                </a:solidFill>
                <a:latin typeface="Aptos"/>
              </a:defRPr>
            </a:pPr>
            <a:r>
              <a:t>¿Qué problema aborda AirMed?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627D98"/>
                </a:solidFill>
                <a:latin typeface="Aptos"/>
              </a:defRPr>
            </a:pPr>
            <a:r>
              <a:rPr dirty="0"/>
              <a:t>El </a:t>
            </a:r>
            <a:r>
              <a:rPr dirty="0" err="1"/>
              <a:t>reto</a:t>
            </a:r>
            <a:r>
              <a:rPr dirty="0"/>
              <a:t> no es </a:t>
            </a:r>
            <a:r>
              <a:rPr dirty="0" err="1"/>
              <a:t>describir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aire</a:t>
            </a:r>
            <a:r>
              <a:rPr dirty="0"/>
              <a:t> de </a:t>
            </a:r>
            <a:r>
              <a:rPr dirty="0" err="1"/>
              <a:t>ayer</a:t>
            </a:r>
            <a:r>
              <a:rPr dirty="0"/>
              <a:t>, </a:t>
            </a:r>
            <a:r>
              <a:rPr dirty="0" err="1"/>
              <a:t>sino</a:t>
            </a:r>
            <a:r>
              <a:rPr dirty="0"/>
              <a:t> </a:t>
            </a:r>
            <a:r>
              <a:rPr dirty="0" err="1"/>
              <a:t>evaluar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podemos</a:t>
            </a:r>
            <a:r>
              <a:rPr dirty="0"/>
              <a:t> </a:t>
            </a:r>
            <a:r>
              <a:rPr dirty="0" err="1"/>
              <a:t>anticipar</a:t>
            </a:r>
            <a:r>
              <a:rPr dirty="0"/>
              <a:t> sus </a:t>
            </a:r>
            <a:r>
              <a:rPr dirty="0" err="1"/>
              <a:t>concentraciones</a:t>
            </a:r>
            <a:r>
              <a:rPr dirty="0"/>
              <a:t> </a:t>
            </a:r>
            <a:r>
              <a:rPr dirty="0" err="1"/>
              <a:t>horarias</a:t>
            </a:r>
            <a:r>
              <a:rPr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77724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700" b="0" i="0">
                <a:solidFill>
                  <a:srgbClr val="627D98"/>
                </a:solidFill>
                <a:latin typeface="Aptos"/>
              </a:defRPr>
            </a:pPr>
            <a:r>
              <a:t>AIRMED  •  DEEP LEARNING  •  MEDELLÍN, COLOMBIA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0" i="0">
                <a:solidFill>
                  <a:srgbClr val="627D9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74519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874519"/>
            <a:ext cx="73152" cy="1874519"/>
          </a:xfrm>
          <a:prstGeom prst="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039112"/>
            <a:ext cx="487375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 i="0">
                <a:solidFill>
                  <a:srgbClr val="102A43"/>
                </a:solidFill>
                <a:latin typeface="Aptos"/>
              </a:defRPr>
            </a:pPr>
            <a:r>
              <a:t>PROBLEMÁTICA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41448"/>
            <a:ext cx="4873752" cy="11887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 i="0">
                <a:solidFill>
                  <a:srgbClr val="243B53"/>
                </a:solidFill>
                <a:latin typeface="Aptos"/>
              </a:defRPr>
            </a:pPr>
            <a:r>
              <a:t>La concentración de PM2.5 cambia a lo largo del tiempo. Las mediciones históricas permiten analizar esa variabilidad, pero anticipar las próximas horas requiere construir y validar un modelo predictivo.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874519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0488" y="1874519"/>
            <a:ext cx="73152" cy="1874519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2039112"/>
            <a:ext cx="49377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 i="0">
                <a:solidFill>
                  <a:srgbClr val="102A43"/>
                </a:solidFill>
                <a:latin typeface="Aptos"/>
              </a:defRPr>
            </a:pPr>
            <a:r>
              <a:t>OBJETIVO DEL PROYECTO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2441448"/>
            <a:ext cx="4937760" cy="11887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 i="0">
                <a:solidFill>
                  <a:srgbClr val="243B53"/>
                </a:solidFill>
                <a:latin typeface="Aptos"/>
              </a:defRPr>
            </a:pPr>
            <a:r>
              <a:t>Desarrollar y comparar redes neuronales recurrentes LSTM y GRU para predecir las siguientes 24 concentraciones horarias de PM2.5 en una estación de monitoreo de Medellín.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069080"/>
            <a:ext cx="10890504" cy="1225296"/>
          </a:xfrm>
          <a:prstGeom prst="roundRect">
            <a:avLst/>
          </a:prstGeom>
          <a:solidFill>
            <a:srgbClr val="E8F1F5"/>
          </a:solidFill>
          <a:ln>
            <a:solidFill>
              <a:srgbClr val="E8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315968"/>
            <a:ext cx="23774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087E8B"/>
                </a:solidFill>
                <a:latin typeface="Aptos"/>
              </a:defRPr>
            </a:pPr>
            <a:r>
              <a:rPr dirty="0"/>
              <a:t>PREGUNTA </a:t>
            </a:r>
            <a:r>
              <a:rPr lang="es-CO" dirty="0"/>
              <a:t>IMPORTANTE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96112" y="4617720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900" b="1" i="0">
                <a:solidFill>
                  <a:srgbClr val="102A43"/>
                </a:solidFill>
                <a:latin typeface="Aptos"/>
              </a:defRPr>
            </a:pPr>
            <a:r>
              <a:t>¿Una red recurrente puede mejorar el pronóstico frente a repetir la última medición observada?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087E8B"/>
                </a:solidFill>
                <a:latin typeface="Aptos"/>
              </a:defRPr>
            </a:pPr>
            <a:r>
              <a:t>02 ·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600" b="1" i="0">
                <a:solidFill>
                  <a:srgbClr val="102A43"/>
                </a:solidFill>
                <a:latin typeface="Aptos"/>
              </a:defRPr>
            </a:pPr>
            <a:r>
              <a:t>El conjunto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627D98"/>
                </a:solidFill>
                <a:latin typeface="Aptos"/>
              </a:defRPr>
            </a:pPr>
            <a:r>
              <a:t>Registros horarios consolidados a partir de los archivos validados de SIATA para la estación MED-PBLQ.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77724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700" b="0" i="0">
                <a:solidFill>
                  <a:srgbClr val="627D98"/>
                </a:solidFill>
                <a:latin typeface="Aptos"/>
              </a:defRPr>
            </a:pPr>
            <a:r>
              <a:t>AIRMED  •  DEEP LEARNING  •  MEDELLÍN, COLOMBIA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0" i="0">
                <a:solidFill>
                  <a:srgbClr val="627D9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2880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828800"/>
            <a:ext cx="2606040" cy="6400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029968"/>
            <a:ext cx="231343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102A43"/>
                </a:solidFill>
                <a:latin typeface="Aptos"/>
              </a:defRPr>
            </a:pPr>
            <a:r>
              <a:t>5.832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514600"/>
            <a:ext cx="231343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627D98"/>
                </a:solidFill>
                <a:latin typeface="Aptos"/>
              </a:defRPr>
            </a:pPr>
            <a:r>
              <a:t>REGISTROS HORARIOS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798064"/>
            <a:ext cx="231343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Enero–agosto de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1828800"/>
            <a:ext cx="2606040" cy="64008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9584" y="2029968"/>
            <a:ext cx="231343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102A43"/>
                </a:solidFill>
                <a:latin typeface="Aptos"/>
              </a:defRPr>
            </a:pPr>
            <a:r>
              <a:t>98,83 %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514600"/>
            <a:ext cx="231343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627D98"/>
                </a:solidFill>
                <a:latin typeface="Aptos"/>
              </a:defRPr>
            </a:pPr>
            <a:r>
              <a:t>DISPONIBILIDAD PM2.5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798064"/>
            <a:ext cx="231343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5.764 mediciones observadas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82880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606040" cy="64008"/>
          </a:xfrm>
          <a:prstGeom prst="rect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2029968"/>
            <a:ext cx="231343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102A43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514600"/>
            <a:ext cx="231343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627D98"/>
                </a:solidFill>
                <a:latin typeface="Aptos"/>
              </a:defRPr>
            </a:pPr>
            <a:r>
              <a:t>DATOS FALTANTES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798064"/>
            <a:ext cx="231343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1,17 % de las observaciones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6256" y="182880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06256" y="1828800"/>
            <a:ext cx="2606040" cy="64008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52560" y="2029968"/>
            <a:ext cx="231343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102A4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514600"/>
            <a:ext cx="231343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627D98"/>
                </a:solidFill>
                <a:latin typeface="Aptos"/>
              </a:defRPr>
            </a:pPr>
            <a:r>
              <a:t>COLUMNAS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798064"/>
            <a:ext cx="231343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PM2.5 + variables ambientales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675887"/>
            <a:ext cx="38404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102A43"/>
                </a:solidFill>
                <a:latin typeface="Aptos"/>
              </a:defRPr>
            </a:pPr>
            <a:r>
              <a:t>Variables contenidas en el 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96512"/>
            <a:ext cx="106984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 i="0">
                <a:solidFill>
                  <a:srgbClr val="243B53"/>
                </a:solidFill>
                <a:latin typeface="Aptos"/>
              </a:defRPr>
            </a:pPr>
            <a:r>
              <a:t>PM2.5 (objetivo)  ·  temperatura  ·  humedad relativa  ·  velocidad y dirección del viento  ·  presión  ·  precipitación  ·  ozono  ·  fecha/hora.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74920"/>
            <a:ext cx="108356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266944"/>
            <a:ext cx="104241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102A43"/>
                </a:solidFill>
                <a:latin typeface="Aptos"/>
              </a:defRPr>
            </a:pPr>
            <a:r>
              <a:t>Decisión de la primera versión: usar solo PM2.5 como entrada (enfoque univariado). Las variables meteorológicas quedan para experimentos futuros.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5971032"/>
            <a:ext cx="7589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627D98"/>
                </a:solidFill>
                <a:latin typeface="Aptos"/>
              </a:defRPr>
            </a:pPr>
            <a:r>
              <a:t>Fuente: SIATA · https://siata.gov.co/IDEAM/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087E8B"/>
                </a:solidFill>
                <a:latin typeface="Aptos"/>
              </a:defRPr>
            </a:pPr>
            <a:r>
              <a:t>03 · EXPLORACIÓN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600" b="1" i="0">
                <a:solidFill>
                  <a:srgbClr val="102A43"/>
                </a:solidFill>
                <a:latin typeface="Aptos"/>
              </a:defRPr>
            </a:pPr>
            <a:r>
              <a:rPr lang="es-CO"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reveló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exploratorio</a:t>
            </a:r>
            <a:r>
              <a:rPr lang="es-CO" dirty="0"/>
              <a:t>?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627D98"/>
                </a:solidFill>
                <a:latin typeface="Aptos"/>
              </a:defRPr>
            </a:pPr>
            <a:r>
              <a:t>Los patrones son descriptivos: sugieren estructura temporal, pero no demuestran por sí mismos las causas.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77724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700" b="0" i="0">
                <a:solidFill>
                  <a:srgbClr val="627D98"/>
                </a:solidFill>
                <a:latin typeface="Aptos"/>
              </a:defRPr>
            </a:pPr>
            <a:r>
              <a:t>AIRMED  •  DEEP LEARNING  •  MEDELLÍN, COLOMBIA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0" i="0">
                <a:solidFill>
                  <a:srgbClr val="627D98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9" name="Picture 8" descr="tendencia_pm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254"/>
            <a:ext cx="5486400" cy="1912186"/>
          </a:xfrm>
          <a:prstGeom prst="rect">
            <a:avLst/>
          </a:prstGeom>
        </p:spPr>
      </p:pic>
      <p:pic>
        <p:nvPicPr>
          <p:cNvPr id="10" name="Picture 9" descr="perfil_hor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543" y="1755648"/>
            <a:ext cx="4564856" cy="2057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4096512"/>
            <a:ext cx="2331720" cy="121615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4096512"/>
            <a:ext cx="2331720" cy="6400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4297680"/>
            <a:ext cx="203911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102A43"/>
                </a:solidFill>
                <a:latin typeface="Aptos"/>
              </a:defRPr>
            </a:pPr>
            <a:r>
              <a:t>13,96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782312"/>
            <a:ext cx="20391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627D98"/>
                </a:solidFill>
                <a:latin typeface="Aptos"/>
              </a:defRPr>
            </a:pPr>
            <a:r>
              <a:t>MEDIA PM2.5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065776"/>
            <a:ext cx="20391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µg/m³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36392" y="4096512"/>
            <a:ext cx="2331720" cy="121615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36392" y="4096512"/>
            <a:ext cx="2331720" cy="64008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82696" y="4297680"/>
            <a:ext cx="203911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102A4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2696" y="4782312"/>
            <a:ext cx="20391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627D98"/>
                </a:solidFill>
                <a:latin typeface="Aptos"/>
              </a:defRPr>
            </a:pPr>
            <a:r>
              <a:t>MEDIANA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2696" y="5065776"/>
            <a:ext cx="20391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µg/m³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32704" y="4096512"/>
            <a:ext cx="2331720" cy="121615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32704" y="4096512"/>
            <a:ext cx="2331720" cy="64008"/>
          </a:xfrm>
          <a:prstGeom prst="rect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79008" y="4297680"/>
            <a:ext cx="203911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102A43"/>
                </a:solidFill>
                <a:latin typeface="Aptos"/>
              </a:defRPr>
            </a:pPr>
            <a:r>
              <a:t>19,52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9008" y="4782312"/>
            <a:ext cx="20391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627D98"/>
                </a:solidFill>
                <a:latin typeface="Aptos"/>
              </a:defRPr>
            </a:pPr>
            <a:r>
              <a:t>MÁX. MEDIA HORARIA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8" y="5065776"/>
            <a:ext cx="20391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a las 07:00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9016" y="4096512"/>
            <a:ext cx="3246120" cy="121615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29016" y="4096512"/>
            <a:ext cx="3246120" cy="64008"/>
          </a:xfrm>
          <a:prstGeom prst="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4297680"/>
            <a:ext cx="295351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102A43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782312"/>
            <a:ext cx="29535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627D98"/>
                </a:solidFill>
                <a:latin typeface="Aptos"/>
              </a:defRPr>
            </a:pPr>
            <a:r>
              <a:t>MÁXIMO REGISTRADO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065776"/>
            <a:ext cx="29535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1 ene 2026, 00:00; requiere verificación contextual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660136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102A43"/>
                </a:solidFill>
                <a:latin typeface="Aptos"/>
              </a:defRPr>
            </a:pPr>
            <a:r>
              <a:t>Observación clave: concentración media más alta en torno a 06:00–07:00 y más baja alrededor de 14:00 en el perfil agregado.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087E8B"/>
                </a:solidFill>
                <a:latin typeface="Aptos"/>
              </a:defRPr>
            </a:pPr>
            <a:r>
              <a:t>04 · 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600" b="1" i="0">
                <a:solidFill>
                  <a:srgbClr val="102A43"/>
                </a:solidFill>
                <a:latin typeface="Aptos"/>
              </a:defRPr>
            </a:pPr>
            <a:r>
              <a:t>De mediciones a secuencias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627D98"/>
                </a:solidFill>
                <a:latin typeface="Aptos"/>
              </a:defRPr>
            </a:pPr>
            <a:r>
              <a:t>La preparación se diseñó para mantener el orden temporal y evitar fuga de información.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77724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700" b="0" i="0">
                <a:solidFill>
                  <a:srgbClr val="627D98"/>
                </a:solidFill>
                <a:latin typeface="Aptos"/>
              </a:defRPr>
            </a:pPr>
            <a:r>
              <a:t>AIRMED  •  DEEP LEARNING  •  MEDELLÍN, COLOMBIA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0" i="0">
                <a:solidFill>
                  <a:srgbClr val="627D9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28800"/>
            <a:ext cx="17647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1975104"/>
            <a:ext cx="393192" cy="39319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57400"/>
            <a:ext cx="39319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42032"/>
            <a:ext cx="14996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102A43"/>
                </a:solidFill>
                <a:latin typeface="Aptos"/>
              </a:defRPr>
            </a:pPr>
            <a:r>
              <a:t>Auditar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07792"/>
            <a:ext cx="150876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5.832 marcas horarias; sin duplicados ni saltos &gt; 1 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587752"/>
            <a:ext cx="43891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300" b="1" i="0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1828800"/>
            <a:ext cx="17647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54096" y="1975104"/>
            <a:ext cx="393192" cy="39319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54096" y="2057400"/>
            <a:ext cx="39319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2542032"/>
            <a:ext cx="14996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102A43"/>
                </a:solidFill>
                <a:latin typeface="Aptos"/>
              </a:defRPr>
            </a:pPr>
            <a:r>
              <a:t>Tratar faltantes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2907792"/>
            <a:ext cx="150876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Forward fill hasta 3 h; se conserva la marca original.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2587752"/>
            <a:ext cx="43891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300" b="1" i="0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30368" y="1828800"/>
            <a:ext cx="17647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358383" y="1975104"/>
            <a:ext cx="393192" cy="39319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58383" y="2057400"/>
            <a:ext cx="39319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3" y="2542032"/>
            <a:ext cx="14996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102A43"/>
                </a:solidFill>
                <a:latin typeface="Aptos"/>
              </a:defRPr>
            </a:pPr>
            <a:r>
              <a:t>Separar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3" y="2907792"/>
            <a:ext cx="150876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70 % entrenamiento · 15 % validación · 15 % prueba.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2587752"/>
            <a:ext cx="43891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300" b="1" i="0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34656" y="1828800"/>
            <a:ext cx="17647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62672" y="1975104"/>
            <a:ext cx="393192" cy="39319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62672" y="2057400"/>
            <a:ext cx="39319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2542032"/>
            <a:ext cx="14996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102A43"/>
                </a:solidFill>
                <a:latin typeface="Aptos"/>
              </a:defRPr>
            </a:pPr>
            <a:r>
              <a:t>Escalar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2" y="2907792"/>
            <a:ext cx="150876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RobustScaler ajustado solo con observaciones reales de entrenamiento.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2587752"/>
            <a:ext cx="43891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300" b="1" i="0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38944" y="1828800"/>
            <a:ext cx="17647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966960" y="1975104"/>
            <a:ext cx="393192" cy="393192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66960" y="2057400"/>
            <a:ext cx="39319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542032"/>
            <a:ext cx="14996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102A43"/>
                </a:solidFill>
                <a:latin typeface="Aptos"/>
              </a:defRPr>
            </a:pPr>
            <a:r>
              <a:t>Secuenciar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2907792"/>
            <a:ext cx="150876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168 horas de entrada → 24 objetivos horarios.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160520"/>
            <a:ext cx="10853928" cy="960120"/>
          </a:xfrm>
          <a:prstGeom prst="roundRect">
            <a:avLst/>
          </a:prstGeom>
          <a:solidFill>
            <a:srgbClr val="E8F1F5"/>
          </a:solidFill>
          <a:ln>
            <a:solidFill>
              <a:srgbClr val="E8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6112" y="4352544"/>
            <a:ext cx="2743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087E8B"/>
                </a:solidFill>
                <a:latin typeface="Aptos"/>
              </a:defRPr>
            </a:pPr>
            <a:r>
              <a:t>SECUENCIAS CONSTRUIDAS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4663440"/>
            <a:ext cx="2423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 i="0">
                <a:solidFill>
                  <a:srgbClr val="102A43"/>
                </a:solidFill>
                <a:latin typeface="Aptos"/>
              </a:defRPr>
            </a:pPr>
            <a:r>
              <a:t>Entrenamiento: 3.104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13632" y="4663440"/>
            <a:ext cx="1965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 i="0">
                <a:solidFill>
                  <a:srgbClr val="102A43"/>
                </a:solidFill>
                <a:latin typeface="Aptos"/>
              </a:defRPr>
            </a:pPr>
            <a:r>
              <a:t>Validación: 640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663440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 i="0">
                <a:solidFill>
                  <a:srgbClr val="102A43"/>
                </a:solidFill>
                <a:latin typeface="Aptos"/>
              </a:defRPr>
            </a:pPr>
            <a:r>
              <a:t>Prueba: 637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087E8B"/>
                </a:solidFill>
                <a:latin typeface="Aptos"/>
              </a:defRPr>
            </a:pPr>
            <a:r>
              <a:t>05 ·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600" b="1" i="0">
                <a:solidFill>
                  <a:srgbClr val="102A43"/>
                </a:solidFill>
                <a:latin typeface="Aptos"/>
              </a:defRPr>
            </a:pPr>
            <a:r>
              <a:t>Dos redes recurrentes, una misma tarea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627D98"/>
                </a:solidFill>
                <a:latin typeface="Aptos"/>
              </a:defRPr>
            </a:pPr>
            <a:r>
              <a:t>Comparación controlada: misma ventana histórica, mismo horizonte y mismas particiones.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77724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700" b="0" i="0">
                <a:solidFill>
                  <a:srgbClr val="627D98"/>
                </a:solidFill>
                <a:latin typeface="Aptos"/>
              </a:defRPr>
            </a:pPr>
            <a:r>
              <a:t>AIRMED  •  DEEP LEARNING  •  MEDELLÍN, COLOMBIA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0" i="0">
                <a:solidFill>
                  <a:srgbClr val="627D9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1901952" cy="105156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57276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 i="0">
                <a:solidFill>
                  <a:srgbClr val="7FE7E2"/>
                </a:solidFill>
                <a:latin typeface="Aptos"/>
              </a:defRPr>
            </a:pPr>
            <a: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96312"/>
            <a:ext cx="157276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168 ×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2267712"/>
            <a:ext cx="4572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400" b="1" i="0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755648"/>
            <a:ext cx="2377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0128" y="2011680"/>
            <a:ext cx="2057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1" i="0">
                <a:solidFill>
                  <a:srgbClr val="102A43"/>
                </a:solidFill>
                <a:latin typeface="Aptos"/>
              </a:defRPr>
            </a:pPr>
            <a:r>
              <a:t>LSTM · 64 unidades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395728"/>
            <a:ext cx="2057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0" i="0">
                <a:solidFill>
                  <a:srgbClr val="627D98"/>
                </a:solidFill>
                <a:latin typeface="Aptos"/>
              </a:defRPr>
            </a:pPr>
            <a:r>
              <a:t>19.768 parámetros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127248"/>
            <a:ext cx="2377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0128" y="3383280"/>
            <a:ext cx="2057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1" i="0">
                <a:solidFill>
                  <a:srgbClr val="102A43"/>
                </a:solidFill>
                <a:latin typeface="Aptos"/>
              </a:defRPr>
            </a:pPr>
            <a:r>
              <a:t>GRU · 64 unidades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3767328"/>
            <a:ext cx="2057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0" i="0">
                <a:solidFill>
                  <a:srgbClr val="627D98"/>
                </a:solidFill>
                <a:latin typeface="Aptos"/>
              </a:defRPr>
            </a:pPr>
            <a:r>
              <a:t>15.736 parámetros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084831"/>
            <a:ext cx="43891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400" b="1" i="0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465576"/>
            <a:ext cx="43891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400" b="1" i="0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874519"/>
            <a:ext cx="2103120" cy="2651760"/>
          </a:xfrm>
          <a:prstGeom prst="roundRect">
            <a:avLst/>
          </a:prstGeom>
          <a:solidFill>
            <a:srgbClr val="E8F1F5"/>
          </a:solidFill>
          <a:ln>
            <a:solidFill>
              <a:srgbClr val="E8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2093976"/>
            <a:ext cx="166420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087E8B"/>
                </a:solidFill>
                <a:latin typeface="Aptos"/>
              </a:defRPr>
            </a:pPr>
            <a:r>
              <a:t>CAPAS COMUNES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587752"/>
            <a:ext cx="1664208" cy="11155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1" i="0">
                <a:solidFill>
                  <a:srgbClr val="102A43"/>
                </a:solidFill>
                <a:latin typeface="Aptos"/>
              </a:defRPr>
            </a:pPr>
            <a:r>
              <a:t>Dropout 0,20</a:t>
            </a:r>
            <a:br/>
            <a:r>
              <a:t>Dense 32 · ReLU</a:t>
            </a:r>
            <a:br/>
            <a:r>
              <a:t>Salida Dense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913632"/>
            <a:ext cx="1737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0" i="0">
                <a:solidFill>
                  <a:srgbClr val="627D98"/>
                </a:solidFill>
                <a:latin typeface="Aptos"/>
              </a:defRPr>
            </a:pPr>
            <a:r>
              <a:t>24 predicciones horarias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990088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400" b="1" i="0">
                <a:solidFill>
                  <a:srgbClr val="00A6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331720"/>
            <a:ext cx="2514600" cy="164592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20" y="2587752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 i="0">
                <a:solidFill>
                  <a:srgbClr val="7FE7E2"/>
                </a:solidFill>
                <a:latin typeface="Aptos"/>
              </a:defRPr>
            </a:pPr>
            <a:r>
              <a:t>SALIDA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971800"/>
            <a:ext cx="21031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PM2.5 · t+1 … t+24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48656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243B53"/>
                </a:solidFill>
                <a:latin typeface="Aptos"/>
              </a:defRPr>
            </a:pPr>
            <a:r>
              <a:rPr dirty="0" err="1"/>
              <a:t>Referencia</a:t>
            </a:r>
            <a:r>
              <a:rPr dirty="0"/>
              <a:t>: </a:t>
            </a:r>
            <a:r>
              <a:rPr dirty="0" err="1"/>
              <a:t>persistencia</a:t>
            </a:r>
            <a:r>
              <a:rPr dirty="0"/>
              <a:t> = </a:t>
            </a:r>
            <a:r>
              <a:rPr dirty="0" err="1"/>
              <a:t>última</a:t>
            </a:r>
            <a:r>
              <a:rPr dirty="0"/>
              <a:t> </a:t>
            </a:r>
            <a:r>
              <a:rPr dirty="0" err="1"/>
              <a:t>observación</a:t>
            </a:r>
            <a:r>
              <a:rPr dirty="0"/>
              <a:t> </a:t>
            </a:r>
            <a:r>
              <a:rPr dirty="0" err="1"/>
              <a:t>repetida</a:t>
            </a:r>
            <a:r>
              <a:rPr dirty="0"/>
              <a:t> 24 </a:t>
            </a:r>
            <a:r>
              <a:rPr dirty="0" err="1"/>
              <a:t>veces</a:t>
            </a:r>
            <a:r>
              <a:rPr dirty="0"/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742432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0" i="0">
                <a:solidFill>
                  <a:srgbClr val="627D98"/>
                </a:solidFill>
                <a:latin typeface="Aptos"/>
              </a:defRPr>
            </a:pPr>
            <a:r>
              <a:rPr dirty="0" err="1"/>
              <a:t>Entrenamiento</a:t>
            </a:r>
            <a:r>
              <a:rPr dirty="0"/>
              <a:t>: Adam (0,001), MSE, batch 32, </a:t>
            </a:r>
            <a:r>
              <a:rPr dirty="0" err="1"/>
              <a:t>máximo</a:t>
            </a:r>
            <a:r>
              <a:rPr dirty="0"/>
              <a:t> 50 </a:t>
            </a:r>
            <a:r>
              <a:rPr dirty="0" err="1"/>
              <a:t>épocas</a:t>
            </a:r>
            <a:r>
              <a:rPr dirty="0"/>
              <a:t>, Early Stopping y </a:t>
            </a:r>
            <a:r>
              <a:rPr dirty="0" err="1"/>
              <a:t>ReduceLROnPlateau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087E8B"/>
                </a:solidFill>
                <a:latin typeface="Aptos"/>
              </a:defRPr>
            </a:pPr>
            <a:r>
              <a:t>06 ·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600" b="1" i="0">
                <a:solidFill>
                  <a:srgbClr val="102A43"/>
                </a:solidFill>
                <a:latin typeface="Aptos"/>
              </a:defRPr>
            </a:pPr>
            <a:r>
              <a:t>La GRU fue la mejor candidata en 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627D98"/>
                </a:solidFill>
                <a:latin typeface="Aptos"/>
              </a:defRPr>
            </a:pPr>
            <a:r>
              <a:t>La arquitectura se seleccionó usando el conjunto de validación; la prueba se mantuvo reservada.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77724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700" b="0" i="0">
                <a:solidFill>
                  <a:srgbClr val="627D98"/>
                </a:solidFill>
                <a:latin typeface="Aptos"/>
              </a:defRPr>
            </a:pPr>
            <a:r>
              <a:t>AIRMED  •  DEEP LEARNING  •  MEDELLÍN, COLOMBIA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0" i="0">
                <a:solidFill>
                  <a:srgbClr val="627D98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9" name="Picture 8" descr="valid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53727"/>
            <a:ext cx="6537960" cy="23962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4927" y="1856231"/>
            <a:ext cx="3931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087E8B"/>
                </a:solidFill>
                <a:latin typeface="Aptos"/>
              </a:defRPr>
            </a:pPr>
            <a:r>
              <a:t>RESULTADOS DE VALIDACIÓN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24927" y="2267712"/>
            <a:ext cx="1444752" cy="39319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0648" y="2368296"/>
            <a:ext cx="13533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Modelo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2832" y="2267712"/>
            <a:ext cx="1170432" cy="39319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88552" y="2368296"/>
            <a:ext cx="10789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68128" y="2267712"/>
            <a:ext cx="1161288" cy="39319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13848" y="2368296"/>
            <a:ext cx="106984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7" y="2660904"/>
            <a:ext cx="1444752" cy="48463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61503" y="281635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0" i="0">
                <a:solidFill>
                  <a:srgbClr val="102A43"/>
                </a:solidFill>
                <a:latin typeface="Aptos"/>
              </a:defRPr>
            </a:pPr>
            <a:r>
              <a:t>Persistencia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42832" y="2660904"/>
            <a:ext cx="1170432" cy="48463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79407" y="2816352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0" i="0">
                <a:solidFill>
                  <a:srgbClr val="102A43"/>
                </a:solidFill>
                <a:latin typeface="Aptos"/>
              </a:defRPr>
            </a:pPr>
            <a:r>
              <a:t>6,764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68128" y="2660904"/>
            <a:ext cx="1161288" cy="48463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04703" y="2816352"/>
            <a:ext cx="108813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0" i="0">
                <a:solidFill>
                  <a:srgbClr val="102A43"/>
                </a:solidFill>
                <a:latin typeface="Aptos"/>
              </a:defRPr>
            </a:pPr>
            <a:r>
              <a:t>9,081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7" y="3145536"/>
            <a:ext cx="1444752" cy="48463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61503" y="3300984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0" i="0">
                <a:solidFill>
                  <a:srgbClr val="102A43"/>
                </a:solidFill>
                <a:latin typeface="Aptos"/>
              </a:defRPr>
            </a:pPr>
            <a:r>
              <a:t>LSTM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2832" y="3145536"/>
            <a:ext cx="1170432" cy="48463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79407" y="3300984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0" i="0">
                <a:solidFill>
                  <a:srgbClr val="102A43"/>
                </a:solidFill>
                <a:latin typeface="Aptos"/>
              </a:defRPr>
            </a:pPr>
            <a:r>
              <a:t>5,254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68128" y="3145536"/>
            <a:ext cx="1161288" cy="48463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04703" y="3300984"/>
            <a:ext cx="108813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0" i="0">
                <a:solidFill>
                  <a:srgbClr val="102A43"/>
                </a:solidFill>
                <a:latin typeface="Aptos"/>
              </a:defRPr>
            </a:pPr>
            <a:r>
              <a:t>6,652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4927" y="3630168"/>
            <a:ext cx="1444752" cy="484632"/>
          </a:xfrm>
          <a:prstGeom prst="rect">
            <a:avLst/>
          </a:prstGeom>
          <a:solidFill>
            <a:srgbClr val="D9F3F0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61503" y="3785616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 i="0">
                <a:solidFill>
                  <a:srgbClr val="102A43"/>
                </a:solidFill>
                <a:latin typeface="Aptos"/>
              </a:defRPr>
            </a:pPr>
            <a:r>
              <a:t>GRU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42832" y="3630168"/>
            <a:ext cx="1170432" cy="484632"/>
          </a:xfrm>
          <a:prstGeom prst="rect">
            <a:avLst/>
          </a:prstGeom>
          <a:solidFill>
            <a:srgbClr val="D9F3F0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79407" y="3785616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 i="0">
                <a:solidFill>
                  <a:srgbClr val="102A43"/>
                </a:solidFill>
                <a:latin typeface="Aptos"/>
              </a:defRPr>
            </a:pPr>
            <a:r>
              <a:t>5,131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68128" y="3630168"/>
            <a:ext cx="1161288" cy="484632"/>
          </a:xfrm>
          <a:prstGeom prst="rect">
            <a:avLst/>
          </a:prstGeom>
          <a:solidFill>
            <a:srgbClr val="D9F3F0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04703" y="3785616"/>
            <a:ext cx="108813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 i="0">
                <a:solidFill>
                  <a:srgbClr val="102A43"/>
                </a:solidFill>
                <a:latin typeface="Aptos"/>
              </a:defRPr>
            </a:pPr>
            <a:r>
              <a:t>6,473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24927" y="4425696"/>
            <a:ext cx="3886200" cy="914400"/>
          </a:xfrm>
          <a:prstGeom prst="roundRect">
            <a:avLst/>
          </a:prstGeom>
          <a:solidFill>
            <a:srgbClr val="E8F1F5"/>
          </a:solidFill>
          <a:ln>
            <a:solidFill>
              <a:srgbClr val="E8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62672" y="4608576"/>
            <a:ext cx="33832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102A43"/>
                </a:solidFill>
                <a:latin typeface="Aptos"/>
              </a:defRPr>
            </a:pPr>
            <a:r>
              <a:t>Frente a persistencia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4946904"/>
            <a:ext cx="342900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087E8B"/>
                </a:solidFill>
                <a:latin typeface="Aptos"/>
              </a:defRPr>
            </a:pPr>
            <a:r>
              <a:t>−24,14 % MAE  ·  −28,72 % RMSE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087E8B"/>
                </a:solidFill>
                <a:latin typeface="Aptos"/>
              </a:defRPr>
            </a:pPr>
            <a:r>
              <a:t>07 · PRUEBA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600" b="1" i="0">
                <a:solidFill>
                  <a:srgbClr val="102A43"/>
                </a:solidFill>
                <a:latin typeface="Aptos"/>
              </a:defRPr>
            </a:pPr>
            <a:r>
              <a:t>Resultado final en datos reservados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627D98"/>
                </a:solidFill>
                <a:latin typeface="Aptos"/>
              </a:defRPr>
            </a:pPr>
            <a:r>
              <a:t>La evaluación confirma que, en este período, la GRU superó al modelo de persistencia.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77724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700" b="0" i="0">
                <a:solidFill>
                  <a:srgbClr val="627D98"/>
                </a:solidFill>
                <a:latin typeface="Aptos"/>
              </a:defRPr>
            </a:pPr>
            <a:r>
              <a:t>AIRMED  •  DEEP LEARNING  •  MEDELLÍN, COLOMBIA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0" i="0">
                <a:solidFill>
                  <a:srgbClr val="627D9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228600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286000" cy="6400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029968"/>
            <a:ext cx="199339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102A43"/>
                </a:solidFill>
                <a:latin typeface="Aptos"/>
              </a:defRPr>
            </a:pPr>
            <a:r>
              <a:t>5,008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14600"/>
            <a:ext cx="199339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627D98"/>
                </a:solidFill>
                <a:latin typeface="Aptos"/>
              </a:defRPr>
            </a:pPr>
            <a:r>
              <a:t>MAE · GRU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798064"/>
            <a:ext cx="19933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µg/m³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90672" y="1828800"/>
            <a:ext cx="228600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90672" y="1828800"/>
            <a:ext cx="2286000" cy="64008"/>
          </a:xfrm>
          <a:prstGeom prst="rect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36976" y="2029968"/>
            <a:ext cx="199339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102A43"/>
                </a:solidFill>
                <a:latin typeface="Aptos"/>
              </a:defRPr>
            </a:pPr>
            <a:r>
              <a:t>6,292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2514600"/>
            <a:ext cx="199339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627D98"/>
                </a:solidFill>
                <a:latin typeface="Aptos"/>
              </a:defRPr>
            </a:pPr>
            <a:r>
              <a:t>RMSE · GRU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6976" y="2798064"/>
            <a:ext cx="19933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µg/m³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01568"/>
            <a:ext cx="228600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3401568"/>
            <a:ext cx="2286000" cy="64008"/>
          </a:xfrm>
          <a:prstGeom prst="rect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3602736"/>
            <a:ext cx="199339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102A43"/>
                </a:solidFill>
                <a:latin typeface="Aptos"/>
              </a:defRPr>
            </a:pPr>
            <a:r>
              <a:t>27,79 %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087368"/>
            <a:ext cx="199339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627D98"/>
                </a:solidFill>
                <a:latin typeface="Aptos"/>
              </a:defRPr>
            </a:pPr>
            <a:r>
              <a:t>REDUCCIÓN MAE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370832"/>
            <a:ext cx="19933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vs. persistencia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90672" y="3401568"/>
            <a:ext cx="228600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090672" y="3401568"/>
            <a:ext cx="2286000" cy="64008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36976" y="3602736"/>
            <a:ext cx="199339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 i="0">
                <a:solidFill>
                  <a:srgbClr val="102A43"/>
                </a:solidFill>
                <a:latin typeface="Aptos"/>
              </a:defRPr>
            </a:pPr>
            <a:r>
              <a:t>30,05 %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6976" y="4087368"/>
            <a:ext cx="199339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627D98"/>
                </a:solidFill>
                <a:latin typeface="Aptos"/>
              </a:defRPr>
            </a:pPr>
            <a:r>
              <a:t>REDUCCIÓN RMSE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4370832"/>
            <a:ext cx="199339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243B53"/>
                </a:solidFill>
                <a:latin typeface="Aptos"/>
              </a:defRPr>
            </a:pPr>
            <a:r>
              <a:t>vs. persistencia</a:t>
            </a:r>
          </a:p>
        </p:txBody>
      </p:sp>
      <p:pic>
        <p:nvPicPr>
          <p:cNvPr id="29" name="Picture 28" descr="prediccion_gru_prue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233007"/>
            <a:ext cx="6016752" cy="248342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669280" y="5276088"/>
            <a:ext cx="5897880" cy="566928"/>
          </a:xfrm>
          <a:prstGeom prst="roundRect">
            <a:avLst/>
          </a:prstGeom>
          <a:solidFill>
            <a:srgbClr val="E8F1F5"/>
          </a:solidFill>
          <a:ln>
            <a:solidFill>
              <a:srgbClr val="E8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70448" y="5449824"/>
            <a:ext cx="5486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Límite</a:t>
            </a:r>
            <a:r>
              <a:rPr dirty="0"/>
              <a:t> visual: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suaviza</a:t>
            </a:r>
            <a:r>
              <a:rPr dirty="0"/>
              <a:t> </a:t>
            </a:r>
            <a:r>
              <a:rPr dirty="0" err="1"/>
              <a:t>algunos</a:t>
            </a:r>
            <a:r>
              <a:rPr dirty="0"/>
              <a:t> </a:t>
            </a:r>
            <a:r>
              <a:rPr dirty="0" err="1"/>
              <a:t>picos</a:t>
            </a:r>
            <a:r>
              <a:rPr dirty="0"/>
              <a:t> y no </a:t>
            </a:r>
            <a:r>
              <a:rPr dirty="0" err="1"/>
              <a:t>anticipa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las </a:t>
            </a:r>
            <a:r>
              <a:rPr dirty="0" err="1"/>
              <a:t>variaciones</a:t>
            </a:r>
            <a:r>
              <a:rPr dirty="0"/>
              <a:t> </a:t>
            </a:r>
            <a:r>
              <a:rPr dirty="0" err="1"/>
              <a:t>bruscas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087E8B"/>
                </a:solidFill>
                <a:latin typeface="Aptos"/>
              </a:defRPr>
            </a:pPr>
            <a:r>
              <a:t>08 · DISCUSIÓN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600" b="1" i="0">
                <a:solidFill>
                  <a:srgbClr val="102A43"/>
                </a:solidFill>
                <a:latin typeface="Aptos"/>
              </a:defRPr>
            </a:pPr>
            <a:r>
              <a:rPr lang="es-CO"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aprendimos</a:t>
            </a:r>
            <a:r>
              <a:rPr dirty="0"/>
              <a:t> y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</a:t>
            </a:r>
            <a:r>
              <a:rPr dirty="0" err="1"/>
              <a:t>mejorar</a:t>
            </a:r>
            <a:r>
              <a:rPr lang="es-CO" dirty="0"/>
              <a:t>?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627D98"/>
                </a:solidFill>
                <a:latin typeface="Aptos"/>
              </a:defRPr>
            </a:pPr>
            <a:r>
              <a:t>El resultado es prometedor como experimento académico; no debe interpretarse como un pronóstico operacional.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77724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700" b="0" i="0">
                <a:solidFill>
                  <a:srgbClr val="627D98"/>
                </a:solidFill>
                <a:latin typeface="Aptos"/>
              </a:defRPr>
            </a:pPr>
            <a:r>
              <a:t>AIRMED  •  DEEP LEARNING  •  MEDELLÍN, COLOMBIA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0" i="0">
                <a:solidFill>
                  <a:srgbClr val="627D9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73152" cy="15087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993392"/>
            <a:ext cx="487375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 i="0">
                <a:solidFill>
                  <a:srgbClr val="102A43"/>
                </a:solidFill>
                <a:latin typeface="Aptos"/>
              </a:defRPr>
            </a:pPr>
            <a:r>
              <a:t>HALLAZGOS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95728"/>
            <a:ext cx="4873752" cy="822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243B53"/>
                </a:solidFill>
                <a:latin typeface="Aptos"/>
              </a:defRPr>
            </a:pPr>
            <a:r>
              <a:t>• La GRU obtuvo menor MAE y RMSE que persistencia en validación y prueba.</a:t>
            </a:r>
            <a:br/>
            <a:r>
              <a:t>• El patrón horario sugiere variación a lo largo del día.</a:t>
            </a:r>
            <a:br/>
            <a:r>
              <a:t>• El entrenamiento mostró señales de sobreajuste.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828800"/>
            <a:ext cx="53218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0488" y="1828800"/>
            <a:ext cx="73152" cy="1508760"/>
          </a:xfrm>
          <a:prstGeom prst="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1993392"/>
            <a:ext cx="49377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 i="0">
                <a:solidFill>
                  <a:srgbClr val="102A43"/>
                </a:solidFill>
                <a:latin typeface="Aptos"/>
              </a:defRPr>
            </a:pPr>
            <a:r>
              <a:t>LIMITACIONES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2395728"/>
            <a:ext cx="4937760" cy="8229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243B53"/>
                </a:solidFill>
                <a:latin typeface="Aptos"/>
              </a:defRPr>
            </a:pPr>
            <a:r>
              <a:t>• Solo ocho meses y una estación.</a:t>
            </a:r>
            <a:br/>
            <a:r>
              <a:t>• Primera versión univariada: no integra meteorología.</a:t>
            </a:r>
            <a:br/>
            <a:r>
              <a:t>• Dificultad para anticipar picos abruptos.</a:t>
            </a:r>
            <a:br/>
            <a:r>
              <a:t>• El máximo de 191 µg/m³ requiere verificación contextual.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913632"/>
            <a:ext cx="36576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087E8B"/>
                </a:solidFill>
                <a:latin typeface="Aptos"/>
              </a:defRPr>
            </a:pPr>
            <a:r>
              <a:t>SIGUIENTES EXPERIMENTOS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4315968"/>
            <a:ext cx="283464" cy="283464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379976"/>
            <a:ext cx="283464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4325112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102A43"/>
                </a:solidFill>
                <a:latin typeface="Aptos"/>
              </a:defRPr>
            </a:pPr>
            <a:r>
              <a:t>Ampliar el histórico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334255"/>
            <a:ext cx="8092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0" i="0">
                <a:solidFill>
                  <a:srgbClr val="243B53"/>
                </a:solidFill>
                <a:latin typeface="Aptos"/>
              </a:defRPr>
            </a:pPr>
            <a:r>
              <a:t>Incluir más años y revisar estabilidad entre temporadas.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" y="4754879"/>
            <a:ext cx="283464" cy="283464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4818888"/>
            <a:ext cx="283464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4764023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102A43"/>
                </a:solidFill>
                <a:latin typeface="Aptos"/>
              </a:defRPr>
            </a:pPr>
            <a:r>
              <a:t>Modelo multivariado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773167"/>
            <a:ext cx="8092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0" i="0">
                <a:solidFill>
                  <a:srgbClr val="243B53"/>
                </a:solidFill>
                <a:latin typeface="Aptos"/>
              </a:defRPr>
            </a:pPr>
            <a:r>
              <a:t>Probar temperatura, humedad, viento y precipitación.</a:t>
            </a:r>
          </a:p>
        </p:txBody>
      </p:sp>
      <p:sp>
        <p:nvSpPr>
          <p:cNvPr id="26" name="Oval 25"/>
          <p:cNvSpPr/>
          <p:nvPr/>
        </p:nvSpPr>
        <p:spPr>
          <a:xfrm>
            <a:off x="749808" y="5193792"/>
            <a:ext cx="283464" cy="283464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5257800"/>
            <a:ext cx="283464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" y="5202936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102A43"/>
                </a:solidFill>
                <a:latin typeface="Aptos"/>
              </a:defRPr>
            </a:pPr>
            <a:r>
              <a:t>Desglosar horizonte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5212079"/>
            <a:ext cx="8092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0" i="0">
                <a:solidFill>
                  <a:srgbClr val="243B53"/>
                </a:solidFill>
                <a:latin typeface="Aptos"/>
              </a:defRPr>
            </a:pPr>
            <a:r>
              <a:t>Medir error a 1 h, 6 h, 12 h y 24 h.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632704"/>
            <a:ext cx="283464" cy="283464"/>
          </a:xfrm>
          <a:prstGeom prst="ellipse">
            <a:avLst/>
          </a:prstGeom>
          <a:solidFill>
            <a:srgbClr val="087E8B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5696712"/>
            <a:ext cx="283464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" y="5641848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102A43"/>
                </a:solidFill>
                <a:latin typeface="Aptos"/>
              </a:defRPr>
            </a:pPr>
            <a:r>
              <a:t>Evaluar nuevos períodos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5650992"/>
            <a:ext cx="8092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0" i="0">
                <a:solidFill>
                  <a:srgbClr val="243B53"/>
                </a:solidFill>
                <a:latin typeface="Aptos"/>
              </a:defRPr>
            </a:pPr>
            <a:r>
              <a:t>Repetir evaluación con otra estación o período independiente.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087E8B"/>
                </a:solidFill>
                <a:latin typeface="Aptos"/>
              </a:defRPr>
            </a:pPr>
            <a:r>
              <a:t>09 ·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600" b="1" i="0">
                <a:solidFill>
                  <a:srgbClr val="102A43"/>
                </a:solidFill>
                <a:latin typeface="Aptos"/>
              </a:defRPr>
            </a:pPr>
            <a:r>
              <a:t>Un proyecto organizado para reproducirse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627D98"/>
                </a:solidFill>
                <a:latin typeface="Aptos"/>
              </a:defRPr>
            </a:pPr>
            <a:r>
              <a:t>El repositorio integra análisis, entrenamiento, artefactos y evidencias de desempeño.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777240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700" b="0" i="0">
                <a:solidFill>
                  <a:srgbClr val="627D98"/>
                </a:solidFill>
                <a:latin typeface="Aptos"/>
              </a:defRPr>
            </a:pPr>
            <a:r>
              <a:t>AIRMED  •  DEEP LEARNING  •  MEDELLÍN, COLOMBIA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0" i="0">
                <a:solidFill>
                  <a:srgbClr val="627D9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5486400" cy="4259132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4892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AirMed/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95728"/>
            <a:ext cx="2468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7FE7E2"/>
                </a:solidFill>
                <a:latin typeface="Aptos"/>
              </a:defRPr>
            </a:pPr>
            <a:r>
              <a:t>├─ README.md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395728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D9E2EC"/>
                </a:solidFill>
                <a:latin typeface="Aptos"/>
              </a:defRPr>
            </a:pPr>
            <a:r>
              <a:t>Documentación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788920"/>
            <a:ext cx="2468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7FE7E2"/>
                </a:solidFill>
                <a:latin typeface="Aptos"/>
              </a:defRPr>
            </a:pPr>
            <a:r>
              <a:t>├─ requirements.txt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788920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D9E2EC"/>
                </a:solidFill>
                <a:latin typeface="Aptos"/>
              </a:defRPr>
            </a:pPr>
            <a:r>
              <a:t>Dependencias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182112"/>
            <a:ext cx="2468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7FE7E2"/>
                </a:solidFill>
                <a:latin typeface="Aptos"/>
              </a:defRPr>
            </a:pPr>
            <a:r>
              <a:t>├─ data/raw/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182112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D9E2EC"/>
                </a:solidFill>
                <a:latin typeface="Aptos"/>
              </a:defRPr>
            </a:pPr>
            <a:r>
              <a:t>CSV consolidado SIATA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75304"/>
            <a:ext cx="2468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7FE7E2"/>
                </a:solidFill>
                <a:latin typeface="Aptos"/>
              </a:defRPr>
            </a:pPr>
            <a:r>
              <a:t>├─ notebooks/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575304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D9E2EC"/>
                </a:solidFill>
                <a:latin typeface="Aptos"/>
              </a:defRPr>
            </a:pPr>
            <a:r>
              <a:t>EDA y modelado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968496"/>
            <a:ext cx="2468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7FE7E2"/>
                </a:solidFill>
                <a:latin typeface="Aptos"/>
              </a:defRPr>
            </a:pPr>
            <a:r>
              <a:t>├─ src/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968496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D9E2EC"/>
                </a:solidFill>
                <a:latin typeface="Aptos"/>
              </a:defRPr>
            </a:pPr>
            <a:r>
              <a:t>Scripts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361688"/>
            <a:ext cx="2468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7FE7E2"/>
                </a:solidFill>
                <a:latin typeface="Aptos"/>
              </a:defRPr>
            </a:pPr>
            <a:r>
              <a:t>├─ models/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4361688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D9E2EC"/>
                </a:solidFill>
                <a:latin typeface="Aptos"/>
              </a:defRPr>
            </a:pPr>
            <a:r>
              <a:t>GRU, escalador y configuración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754880"/>
            <a:ext cx="2468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7FE7E2"/>
                </a:solidFill>
                <a:latin typeface="Aptos"/>
              </a:defRPr>
            </a:pPr>
            <a:r>
              <a:t>├─ results/metrics/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4754880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D9E2EC"/>
                </a:solidFill>
                <a:latin typeface="Aptos"/>
              </a:defRPr>
            </a:pPr>
            <a:r>
              <a:t>Métricas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5148072"/>
            <a:ext cx="2468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7FE7E2"/>
                </a:solidFill>
                <a:latin typeface="Aptos"/>
              </a:defRPr>
            </a:pPr>
            <a:r>
              <a:rPr dirty="0"/>
              <a:t>├─ results/figures/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5148072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D9E2EC"/>
                </a:solidFill>
                <a:latin typeface="Aptos"/>
              </a:defRPr>
            </a:pPr>
            <a:r>
              <a:rPr dirty="0" err="1"/>
              <a:t>Predicción</a:t>
            </a:r>
            <a:r>
              <a:rPr dirty="0"/>
              <a:t> de </a:t>
            </a:r>
            <a:r>
              <a:rPr dirty="0" err="1"/>
              <a:t>prueba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583680" y="1993392"/>
            <a:ext cx="4480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087E8B"/>
                </a:solidFill>
                <a:latin typeface="Aptos"/>
              </a:defRPr>
            </a:pPr>
            <a:r>
              <a:t>REPOSITORIO PÚBLICO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395728"/>
            <a:ext cx="47548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102A43"/>
                </a:solidFill>
                <a:latin typeface="Aptos"/>
              </a:defRPr>
            </a:pPr>
            <a:r>
              <a:t>github.com/Camilososa22/AirMed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154680"/>
            <a:ext cx="42062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 i="0">
                <a:solidFill>
                  <a:srgbClr val="102A43"/>
                </a:solidFill>
                <a:latin typeface="Aptos"/>
              </a:defRPr>
            </a:pPr>
            <a:r>
              <a:t>Fuentes y herramientas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520440"/>
            <a:ext cx="475488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243B53"/>
                </a:solidFill>
                <a:latin typeface="Aptos"/>
              </a:defRPr>
            </a:pPr>
            <a:r>
              <a:t>SIATA · https://siata.gov.co/IDEAM/</a:t>
            </a:r>
            <a:br/>
            <a:r>
              <a:t>TensorFlow/Keras · Scikit-learn · Pandas · NumPy · Matplotlib · Google Colab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5392" y="4800600"/>
            <a:ext cx="4663440" cy="868680"/>
          </a:xfrm>
          <a:prstGeom prst="roundRect">
            <a:avLst/>
          </a:prstGeom>
          <a:solidFill>
            <a:srgbClr val="E8F1F5"/>
          </a:solidFill>
          <a:ln>
            <a:solidFill>
              <a:srgbClr val="E8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84848" y="4983480"/>
            <a:ext cx="14173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087E8B"/>
                </a:solidFill>
                <a:latin typeface="Aptos"/>
              </a:defRPr>
            </a:pPr>
            <a:r>
              <a:t>Conclusión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5276088"/>
            <a:ext cx="40965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0" i="0">
                <a:solidFill>
                  <a:srgbClr val="102A43"/>
                </a:solidFill>
                <a:latin typeface="Aptos"/>
              </a:defRPr>
            </a:pPr>
            <a:r>
              <a:t>La GRU mejoró las métricas frente a persistencia en el período de prueba, con oportunidades claras para ampliar datos y validar picos.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9E933670-2DD0-411B-9102-0D4EEF5EAC7C}"/>
              </a:ext>
            </a:extLst>
          </p:cNvPr>
          <p:cNvSpPr txBox="1"/>
          <p:nvPr/>
        </p:nvSpPr>
        <p:spPr>
          <a:xfrm>
            <a:off x="969264" y="5537140"/>
            <a:ext cx="24688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7FE7E2"/>
                </a:solidFill>
                <a:latin typeface="Aptos"/>
              </a:defRPr>
            </a:pPr>
            <a:r>
              <a:rPr dirty="0"/>
              <a:t>├─ </a:t>
            </a:r>
            <a:r>
              <a:rPr lang="es-CO" dirty="0" err="1"/>
              <a:t>presentation</a:t>
            </a:r>
            <a:r>
              <a:rPr dirty="0"/>
              <a:t>/</a:t>
            </a: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6CBDACEA-08DD-404F-B8C8-937D42C6C5F7}"/>
              </a:ext>
            </a:extLst>
          </p:cNvPr>
          <p:cNvSpPr txBox="1"/>
          <p:nvPr/>
        </p:nvSpPr>
        <p:spPr>
          <a:xfrm>
            <a:off x="3401568" y="5537140"/>
            <a:ext cx="233172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0">
                <a:solidFill>
                  <a:srgbClr val="D9E2EC"/>
                </a:solidFill>
                <a:latin typeface="Aptos"/>
              </a:defRPr>
            </a:pPr>
            <a:r>
              <a:rPr lang="es-CO" dirty="0"/>
              <a:t>Presentación del proyecto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566928"/>
            <a:ext cx="51206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7FE7E2"/>
                </a:solidFill>
                <a:latin typeface="Aptos"/>
              </a:defRPr>
            </a:pPr>
            <a:r>
              <a:rPr dirty="0"/>
              <a:t>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98755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Transparencia del experimento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65960"/>
            <a:ext cx="201168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 i="0">
                <a:solidFill>
                  <a:srgbClr val="7FE7E2"/>
                </a:solidFill>
                <a:latin typeface="Aptos"/>
              </a:defRPr>
            </a:pPr>
            <a:r>
              <a:t>Fuente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31720"/>
            <a:ext cx="99669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SIATA · Directorio de datos validados</a:t>
            </a:r>
            <a:br/>
            <a:r>
              <a:t>https://siata.gov.co/IDEAM/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246120"/>
            <a:ext cx="23774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 i="0">
                <a:solidFill>
                  <a:srgbClr val="7FE7E2"/>
                </a:solidFill>
                <a:latin typeface="Aptos"/>
              </a:defRPr>
            </a:pPr>
            <a:r>
              <a:t>Código y artefactos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611880"/>
            <a:ext cx="99669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Repositorio</a:t>
            </a:r>
            <a:r>
              <a:rPr dirty="0"/>
              <a:t> </a:t>
            </a:r>
            <a:r>
              <a:rPr dirty="0" err="1"/>
              <a:t>AirMed</a:t>
            </a:r>
            <a:br>
              <a:rPr dirty="0"/>
            </a:br>
            <a:r>
              <a:rPr dirty="0"/>
              <a:t>https://github.com/Camilososa22/AirMed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6080760"/>
            <a:ext cx="10698480" cy="16459"/>
          </a:xfrm>
          <a:prstGeom prst="rect">
            <a:avLst/>
          </a:prstGeom>
          <a:solidFill>
            <a:srgbClr val="243B53"/>
          </a:solidFill>
          <a:ln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6281928"/>
            <a:ext cx="86868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0" i="0">
                <a:solidFill>
                  <a:srgbClr val="A9C4D7"/>
                </a:solidFill>
                <a:latin typeface="Aptos"/>
              </a:defRPr>
            </a:pPr>
            <a:r>
              <a:rPr dirty="0"/>
              <a:t>AIRMED  ·  </a:t>
            </a:r>
            <a:r>
              <a:rPr lang="es-CO" dirty="0"/>
              <a:t>TALLER ABP </a:t>
            </a:r>
            <a:r>
              <a:rPr dirty="0"/>
              <a:t>DE DEEP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263640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0" i="0">
                <a:solidFill>
                  <a:srgbClr val="A9C4D7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1134</Words>
  <Application>Microsoft Office PowerPoint</Application>
  <PresentationFormat>Panorámica</PresentationFormat>
  <Paragraphs>208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AirMed: Predicción de la calidad del aire en Medellín mediante Deep Learning</dc:title>
  <dc:subject>Proyecto académico de predicción de PM2.5 con LSTM y GRU</dc:subject>
  <dc:creator>Proyecto AirMed</dc:creator>
  <cp:keywords>AirMed, SIATA, PM2.5, Deep Learning, LSTM, GRU</cp:keywords>
  <dc:description>generated using python-pptx</dc:description>
  <cp:lastModifiedBy>Camilo Estrada Sosa</cp:lastModifiedBy>
  <cp:revision>3</cp:revision>
  <dcterms:created xsi:type="dcterms:W3CDTF">2013-01-27T09:14:16Z</dcterms:created>
  <dcterms:modified xsi:type="dcterms:W3CDTF">2026-10-21T02:56:53Z</dcterms:modified>
  <cp:category/>
</cp:coreProperties>
</file>